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4"/>
  </p:notesMasterIdLst>
  <p:sldIdLst>
    <p:sldId id="256" r:id="rId2"/>
    <p:sldId id="272" r:id="rId3"/>
    <p:sldId id="257" r:id="rId4"/>
    <p:sldId id="264" r:id="rId5"/>
    <p:sldId id="265" r:id="rId6"/>
    <p:sldId id="267" r:id="rId7"/>
    <p:sldId id="268" r:id="rId8"/>
    <p:sldId id="273" r:id="rId9"/>
    <p:sldId id="270" r:id="rId10"/>
    <p:sldId id="271" r:id="rId11"/>
    <p:sldId id="266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EB36C-CD36-48F9-933E-EB235A928D4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E40C2-3CDF-4BC7-8BAF-495F7C561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497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F8FB-8182-9F41-5B80-C1D56A06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39513-49DA-0D46-503C-DDD4C9797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A6E91-B97A-C052-49B1-A2B7AB1E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CC68-09B5-4ED3-9CF7-AB19286014D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0C7C6-6528-7734-A082-DF6E3E037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FB0B0-73A8-98A4-267A-36909DAD0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119D3-0BE3-46B5-8904-678AC8A76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4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94DF6-34EE-0ABB-3F63-FF1E4B31C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42930-BAC0-86CD-02D7-CCB5CCC31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72DE6-4AE7-6231-3D52-95E7474CB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CC68-09B5-4ED3-9CF7-AB19286014D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E471A-1308-5AEE-D68E-926AE10F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57F7B-704E-5694-B972-ED774441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119D3-0BE3-46B5-8904-678AC8A76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15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C0394-0036-0B61-478F-2C0BF4AEA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CE245-AB21-EE15-7866-CDEE9ACD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1C32A-4047-B993-790F-F63BEC50D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CC68-09B5-4ED3-9CF7-AB19286014D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F7C37-14CB-3068-0ECD-59602BECF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DAC60-B1F3-59CB-665D-4F84B3822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119D3-0BE3-46B5-8904-678AC8A76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596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9CC37-5DE7-381D-99F8-1C637208B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23E19-2036-ED27-5F4D-CFE9EE9F7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67B0F-9BF1-BC41-74B3-B26A2A83F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22AF5-4225-1044-8FC7-5EF6D0E49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CC68-09B5-4ED3-9CF7-AB19286014D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78D51-7104-AF07-D764-CF06CD53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74897-92D7-044D-35B0-B48600C3C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119D3-0BE3-46B5-8904-678AC8A76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36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E072A-92E3-785C-E145-73E649F51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5977E-E2B9-8F1F-0688-F297C6A46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7DD7C-4AC3-6B01-D1DD-F91E55F07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D17E04-2C58-6034-40C8-9B98C1461E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8744F3-01C8-6129-B2CD-5D66C6CA6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E045D8-D2D3-F00E-42F3-D253D945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CC68-09B5-4ED3-9CF7-AB19286014D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17F3EE-C8C0-2790-FDF2-96FF58B8D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144C9A-78EB-6B20-A472-3C853C872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119D3-0BE3-46B5-8904-678AC8A76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02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2CA1D-6271-F3B1-BBDE-D1FB58664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E750D4-B6BF-043F-C87F-26987CE4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CC68-09B5-4ED3-9CF7-AB19286014D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88A6AF-5715-822E-9DCE-3B0FD4786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C09885-A25B-93D4-2A4D-B03B92F3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119D3-0BE3-46B5-8904-678AC8A76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13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C28CF-997A-5F62-9D77-45BFA3303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CC68-09B5-4ED3-9CF7-AB19286014D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B69B56-FB39-77B5-E271-481A8F5B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C1387-1CFE-E907-5A54-A26CA6495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119D3-0BE3-46B5-8904-678AC8A76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12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95E91-795F-4224-16FF-A818E76F7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91891-A9E5-4FD6-3A0F-4411ED758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7A837-87BF-DAEA-CC95-6E450AA95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0216B-B0DB-A482-744B-B99D08731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CC68-09B5-4ED3-9CF7-AB19286014D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B2C1E-DEB6-7CE1-B353-A40AFECAE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4A841-2083-FC8E-691D-9D0EABDD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119D3-0BE3-46B5-8904-678AC8A76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59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12281-C67E-F9AB-EC5D-06BFDB71E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2A467D-BC20-BDD3-982F-17B6E5045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973B54-8B4B-D1B0-8CE5-578D705AC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090DF-66BA-5FDD-5836-03A2C217E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CC68-09B5-4ED3-9CF7-AB19286014D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EE16F-FE01-67B3-FD60-E8D07B3DF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62DC0-BF1D-5429-96F2-D133558E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119D3-0BE3-46B5-8904-678AC8A76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80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350B8-27F0-FD11-826C-E0E6CEDC2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490296-0C27-4FA6-C946-B6018F8BD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8034A-1AE7-3D22-1508-708A4FF4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CC68-09B5-4ED3-9CF7-AB19286014D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F7F1B-24D1-F300-B7AE-E8D838406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A43D1-ECFA-DA9E-39D6-97BCBE986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119D3-0BE3-46B5-8904-678AC8A76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511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4B9FD8-E4D9-B2CD-A9FE-07ADF90549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B6ACB7-75E3-2A5D-AFDD-67C757236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C883E-6783-E66F-BBE2-DEB5DF38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CC68-09B5-4ED3-9CF7-AB19286014D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87A2D-ED38-8CA9-CE5F-7C8BC028C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759BD-5409-0F7C-00B8-8C7D5D65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119D3-0BE3-46B5-8904-678AC8A76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E25816-53E1-B866-69DE-4F728266E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21DA7-E88E-738A-2468-2641EF935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5E5C5-2E5E-234A-A9DE-831E2F65C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B2CC68-09B5-4ED3-9CF7-AB19286014D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DFDD4-9E65-7A16-A23C-0927F6A8D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A2BE4-FDAD-FFD1-47F6-D9FB92E2E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6119D3-0BE3-46B5-8904-678AC8A76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646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FBF44-7045-9941-AAE7-D7E9E04E4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975" y="1214438"/>
            <a:ext cx="9544050" cy="2387600"/>
          </a:xfrm>
        </p:spPr>
        <p:txBody>
          <a:bodyPr/>
          <a:lstStyle/>
          <a:p>
            <a:r>
              <a:rPr lang="en-US" dirty="0"/>
              <a:t>Boston vs NYC Rental Markets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48AEF8-F801-A8BB-30D0-F43845415E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Data-driven insights from ~8.7K Boston and ~11.9K NYC listings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59FAFA-346C-355A-1B6E-ABF105CAB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12/08/2025 Snapshot</a:t>
            </a:r>
          </a:p>
        </p:txBody>
      </p:sp>
    </p:spTree>
    <p:extLst>
      <p:ext uri="{BB962C8B-B14F-4D97-AF65-F5344CB8AC3E}">
        <p14:creationId xmlns:p14="http://schemas.microsoft.com/office/powerpoint/2010/main" val="1097261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02F7B-6740-E9FA-7F1D-9713333CA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700" dirty="0"/>
              <a:t>How do NYC and Boston compare for renters?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AB50C-D5A6-860F-F6F6-10506C750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Price</a:t>
            </a:r>
            <a:r>
              <a:rPr lang="en-US" dirty="0"/>
              <a:t>: NYC’s median rent is </a:t>
            </a:r>
            <a:r>
              <a:rPr lang="en-US" b="1" dirty="0"/>
              <a:t>34% higher</a:t>
            </a:r>
            <a:r>
              <a:rPr lang="en-US" dirty="0"/>
              <a:t>, and 1-3BR units are </a:t>
            </a:r>
            <a:r>
              <a:rPr lang="en-US" b="1" dirty="0"/>
              <a:t>40-60% pricier</a:t>
            </a:r>
            <a:r>
              <a:rPr lang="en-US" dirty="0"/>
              <a:t> than in Boston.</a:t>
            </a:r>
          </a:p>
          <a:p>
            <a:r>
              <a:rPr lang="en-US" b="1" dirty="0"/>
              <a:t>Supply</a:t>
            </a:r>
            <a:r>
              <a:rPr lang="en-US" dirty="0"/>
              <a:t>: About </a:t>
            </a:r>
            <a:r>
              <a:rPr lang="en-US" b="1" dirty="0"/>
              <a:t>85% </a:t>
            </a:r>
            <a:r>
              <a:rPr lang="en-US" dirty="0"/>
              <a:t>of NYC listings are in Manhattan/Brooklyn and </a:t>
            </a:r>
            <a:r>
              <a:rPr lang="en-US" b="1" dirty="0"/>
              <a:t>over one-third </a:t>
            </a:r>
            <a:r>
              <a:rPr lang="en-US" dirty="0"/>
              <a:t>of Boston listings are in Allston/Brighton with </a:t>
            </a:r>
            <a:r>
              <a:rPr lang="en-US" b="1" dirty="0"/>
              <a:t>60%</a:t>
            </a:r>
            <a:r>
              <a:rPr lang="en-US" dirty="0"/>
              <a:t> sitting in just five neighborhoods.</a:t>
            </a:r>
          </a:p>
          <a:p>
            <a:r>
              <a:rPr lang="en-US" b="1" dirty="0"/>
              <a:t>Affordability: </a:t>
            </a:r>
            <a:r>
              <a:rPr lang="en-US" dirty="0"/>
              <a:t>Boston is </a:t>
            </a:r>
            <a:r>
              <a:rPr lang="en-US" b="1" dirty="0"/>
              <a:t>3x</a:t>
            </a:r>
            <a:r>
              <a:rPr lang="en-US" dirty="0"/>
              <a:t> more affordable than NYC on an $80K salary with a $1.5K rent budget.</a:t>
            </a:r>
          </a:p>
        </p:txBody>
      </p:sp>
    </p:spTree>
    <p:extLst>
      <p:ext uri="{BB962C8B-B14F-4D97-AF65-F5344CB8AC3E}">
        <p14:creationId xmlns:p14="http://schemas.microsoft.com/office/powerpoint/2010/main" val="3566904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421D9-EBAF-BBFD-0F52-4B3DD934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700" dirty="0"/>
              <a:t>NYC median rent is </a:t>
            </a:r>
            <a:r>
              <a:rPr lang="en-US" sz="3700" b="1" dirty="0"/>
              <a:t>34%</a:t>
            </a:r>
            <a:r>
              <a:rPr lang="en-US" sz="3700" dirty="0"/>
              <a:t> higher than Boston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69ADA9-2F17-9424-9C0F-5144FCA90F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268" y="1500188"/>
            <a:ext cx="3639462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B86C6D-99D3-4A87-4BC3-493ADFF918ED}"/>
              </a:ext>
            </a:extLst>
          </p:cNvPr>
          <p:cNvSpPr txBox="1"/>
          <p:nvPr/>
        </p:nvSpPr>
        <p:spPr>
          <a:xfrm>
            <a:off x="2812255" y="5851526"/>
            <a:ext cx="6567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The biggest difference renters see when comparing the two cities.</a:t>
            </a:r>
          </a:p>
        </p:txBody>
      </p:sp>
    </p:spTree>
    <p:extLst>
      <p:ext uri="{BB962C8B-B14F-4D97-AF65-F5344CB8AC3E}">
        <p14:creationId xmlns:p14="http://schemas.microsoft.com/office/powerpoint/2010/main" val="1495016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2A58-D96E-7845-7128-93CD0938E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700" dirty="0"/>
              <a:t>NYC is </a:t>
            </a:r>
            <a:r>
              <a:rPr lang="en-US" sz="3700" b="1" dirty="0"/>
              <a:t>40-60%</a:t>
            </a:r>
            <a:r>
              <a:rPr lang="en-US" sz="3700" dirty="0"/>
              <a:t> more expensive at every bedroom size</a:t>
            </a:r>
          </a:p>
        </p:txBody>
      </p:sp>
      <p:pic>
        <p:nvPicPr>
          <p:cNvPr id="4" name="Content Placeholder 3" descr="A graph showing the price of a bed&#10;&#10;AI-generated content may be incorrect.">
            <a:extLst>
              <a:ext uri="{FF2B5EF4-FFF2-40B4-BE49-F238E27FC236}">
                <a16:creationId xmlns:a16="http://schemas.microsoft.com/office/drawing/2014/main" id="{52483CE4-8D6E-B549-86CC-4DB51A773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075" y="1690688"/>
            <a:ext cx="7369850" cy="40491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D4DB68-44AA-F274-ECE6-3A9AC784B589}"/>
              </a:ext>
            </a:extLst>
          </p:cNvPr>
          <p:cNvSpPr txBox="1"/>
          <p:nvPr/>
        </p:nvSpPr>
        <p:spPr>
          <a:xfrm>
            <a:off x="2326649" y="5739870"/>
            <a:ext cx="7614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NYC 3BR apartments have a similar median rent as Boston 5BR apartments.</a:t>
            </a:r>
          </a:p>
        </p:txBody>
      </p:sp>
    </p:spTree>
    <p:extLst>
      <p:ext uri="{BB962C8B-B14F-4D97-AF65-F5344CB8AC3E}">
        <p14:creationId xmlns:p14="http://schemas.microsoft.com/office/powerpoint/2010/main" val="3716562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F677D-C729-53A1-5511-45C8ADDBE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700" b="1" dirty="0"/>
              <a:t>60-75%</a:t>
            </a:r>
            <a:r>
              <a:rPr lang="en-US" sz="3700" dirty="0"/>
              <a:t> of listings are 1-2 bedrooms in both cities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0F2279-2852-5369-2405-65DF054C2C07}"/>
              </a:ext>
            </a:extLst>
          </p:cNvPr>
          <p:cNvSpPr txBox="1"/>
          <p:nvPr/>
        </p:nvSpPr>
        <p:spPr>
          <a:xfrm>
            <a:off x="2351844" y="5915025"/>
            <a:ext cx="748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Boston has 4-5BR units, unlike NYC which skews toward studios and 1BRs.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0675FF4-AE4A-884D-19BD-A159A3B8BE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198" y="1690688"/>
            <a:ext cx="7605863" cy="4224337"/>
          </a:xfrm>
        </p:spPr>
      </p:pic>
    </p:spTree>
    <p:extLst>
      <p:ext uri="{BB962C8B-B14F-4D97-AF65-F5344CB8AC3E}">
        <p14:creationId xmlns:p14="http://schemas.microsoft.com/office/powerpoint/2010/main" val="3919414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5399B-F58C-CE19-FBF8-DEA50F421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700" b="1" dirty="0"/>
              <a:t>85%</a:t>
            </a:r>
            <a:r>
              <a:rPr lang="en-US" sz="3700" dirty="0"/>
              <a:t> of NYC listings are in Manhattan and Brooklyn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B50E81-BBE2-28B4-78D5-201A871A9E00}"/>
              </a:ext>
            </a:extLst>
          </p:cNvPr>
          <p:cNvSpPr txBox="1"/>
          <p:nvPr/>
        </p:nvSpPr>
        <p:spPr>
          <a:xfrm>
            <a:off x="2070410" y="4310122"/>
            <a:ext cx="8051178" cy="1714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Manhattan drives citywide pricing with </a:t>
            </a:r>
            <a:r>
              <a:rPr lang="en-US" b="1" i="1" dirty="0"/>
              <a:t>63%</a:t>
            </a:r>
            <a:r>
              <a:rPr lang="en-US" i="1" dirty="0"/>
              <a:t> of listings and a </a:t>
            </a:r>
            <a:r>
              <a:rPr lang="en-US" b="1" i="1" dirty="0"/>
              <a:t>$5K</a:t>
            </a:r>
            <a:r>
              <a:rPr lang="en-US" i="1" dirty="0"/>
              <a:t> median rent.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Stepping from Queens to Brooklyn to Manhattan adds </a:t>
            </a:r>
            <a:r>
              <a:rPr lang="en-US" b="1" i="1" dirty="0"/>
              <a:t>$1K</a:t>
            </a:r>
            <a:r>
              <a:rPr lang="en-US" i="1" dirty="0"/>
              <a:t> in median rent.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Queens has the largest affordable supply with </a:t>
            </a:r>
            <a:r>
              <a:rPr lang="en-US" b="1" i="1" dirty="0"/>
              <a:t>1.5K</a:t>
            </a:r>
            <a:r>
              <a:rPr lang="en-US" i="1" dirty="0"/>
              <a:t> listings.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Affordable boroughs only account for </a:t>
            </a:r>
            <a:r>
              <a:rPr lang="en-US" b="1" i="1" dirty="0"/>
              <a:t>15%</a:t>
            </a:r>
            <a:r>
              <a:rPr lang="en-US" i="1" dirty="0"/>
              <a:t> of all listings.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788C8B7-1537-4AE0-74E6-DF09B17F6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930" y="1690688"/>
            <a:ext cx="6622139" cy="2471737"/>
          </a:xfrm>
        </p:spPr>
      </p:pic>
    </p:spTree>
    <p:extLst>
      <p:ext uri="{BB962C8B-B14F-4D97-AF65-F5344CB8AC3E}">
        <p14:creationId xmlns:p14="http://schemas.microsoft.com/office/powerpoint/2010/main" val="1416012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BFC71-4C65-269B-5931-5E09E5C7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700" dirty="0"/>
              <a:t>Over</a:t>
            </a:r>
            <a:r>
              <a:rPr lang="en-US" sz="3700" b="1" dirty="0"/>
              <a:t> 1/3</a:t>
            </a:r>
            <a:r>
              <a:rPr lang="en-US" sz="3700" dirty="0"/>
              <a:t> of Boston listings are in Allston and Brighton; </a:t>
            </a:r>
            <a:r>
              <a:rPr lang="en-US" sz="3700" b="1" dirty="0"/>
              <a:t>60%</a:t>
            </a:r>
            <a:r>
              <a:rPr lang="en-US" sz="3700" dirty="0"/>
              <a:t> sit in five neighborhoods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392411-C1CC-3F07-B497-05AA8CBAC5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009" y="2001279"/>
            <a:ext cx="6105977" cy="285544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560FED-639F-FA5C-543B-5E3F92FE07B0}"/>
              </a:ext>
            </a:extLst>
          </p:cNvPr>
          <p:cNvSpPr txBox="1"/>
          <p:nvPr/>
        </p:nvSpPr>
        <p:spPr>
          <a:xfrm>
            <a:off x="4386683" y="1690688"/>
            <a:ext cx="34186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Top 10 Neighborhoods by # Listings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0A58B4-1B0D-873D-DD7C-47C555F32E85}"/>
              </a:ext>
            </a:extLst>
          </p:cNvPr>
          <p:cNvSpPr txBox="1"/>
          <p:nvPr/>
        </p:nvSpPr>
        <p:spPr>
          <a:xfrm>
            <a:off x="838200" y="4618596"/>
            <a:ext cx="10515600" cy="199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i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Allston and Brighton drive citywide pricing with </a:t>
            </a:r>
            <a:r>
              <a:rPr lang="en-US" b="1" i="1" dirty="0"/>
              <a:t>$3-3.3K</a:t>
            </a:r>
            <a:r>
              <a:rPr lang="en-US" i="1" dirty="0"/>
              <a:t> median rents and form the city’s largest student housing hub.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Mission Hill has the highest median rent in Boston at </a:t>
            </a:r>
            <a:r>
              <a:rPr lang="en-US" b="1" i="1" dirty="0"/>
              <a:t>$5K</a:t>
            </a:r>
            <a:r>
              <a:rPr lang="en-US" i="1" dirty="0"/>
              <a:t>, but the lowest price per bedroom among premium areas, consistent with large multi-bedroom units shared by students and hospital staff.</a:t>
            </a:r>
          </a:p>
        </p:txBody>
      </p:sp>
    </p:spTree>
    <p:extLst>
      <p:ext uri="{BB962C8B-B14F-4D97-AF65-F5344CB8AC3E}">
        <p14:creationId xmlns:p14="http://schemas.microsoft.com/office/powerpoint/2010/main" val="1491365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E002D-C475-B074-CD91-5D32ADE19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700" dirty="0"/>
              <a:t>Boston is </a:t>
            </a:r>
            <a:r>
              <a:rPr lang="en-US" sz="3700" b="1" dirty="0"/>
              <a:t>3x</a:t>
            </a:r>
            <a:r>
              <a:rPr lang="en-US" sz="3700" dirty="0"/>
              <a:t> more affordable on a </a:t>
            </a:r>
            <a:r>
              <a:rPr lang="en-US" sz="3700" b="1" dirty="0"/>
              <a:t>$1.5K</a:t>
            </a:r>
            <a:r>
              <a:rPr lang="en-US" sz="3700" dirty="0"/>
              <a:t> budget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C620C0-EB1D-6914-2A49-F9BF75E65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725" y="2139950"/>
            <a:ext cx="3870405" cy="39084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5160EE-3AF3-AEB6-F2E1-F5C3FC26C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872" y="2139950"/>
            <a:ext cx="3870405" cy="39084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A6A35B-670A-AC1D-9751-6D820A189144}"/>
              </a:ext>
            </a:extLst>
          </p:cNvPr>
          <p:cNvSpPr txBox="1"/>
          <p:nvPr/>
        </p:nvSpPr>
        <p:spPr>
          <a:xfrm>
            <a:off x="1915218" y="1730653"/>
            <a:ext cx="3395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NYC (1,001 Affordable Listings)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5E015C-C9FC-F273-B2CC-E2315E8AB0CA}"/>
              </a:ext>
            </a:extLst>
          </p:cNvPr>
          <p:cNvSpPr txBox="1"/>
          <p:nvPr/>
        </p:nvSpPr>
        <p:spPr>
          <a:xfrm>
            <a:off x="6808942" y="1730653"/>
            <a:ext cx="3676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Boston (3,092 Affordable Listings)</a:t>
            </a:r>
          </a:p>
        </p:txBody>
      </p:sp>
    </p:spTree>
    <p:extLst>
      <p:ext uri="{BB962C8B-B14F-4D97-AF65-F5344CB8AC3E}">
        <p14:creationId xmlns:p14="http://schemas.microsoft.com/office/powerpoint/2010/main" val="3486798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4D7F-A244-2209-CAF9-1C5876B20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700" dirty="0"/>
              <a:t>Where can I afford to live on a </a:t>
            </a:r>
            <a:r>
              <a:rPr lang="en-US" sz="3700" b="1" dirty="0"/>
              <a:t>$1.5K</a:t>
            </a:r>
            <a:r>
              <a:rPr lang="en-US" sz="3700" dirty="0"/>
              <a:t> budget in NYC?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739D807C-50AB-22F3-155A-89C5669677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544" y="1690688"/>
            <a:ext cx="3928912" cy="4088811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39BFF08-4496-6790-1FCC-214B4358D0A2}"/>
              </a:ext>
            </a:extLst>
          </p:cNvPr>
          <p:cNvSpPr txBox="1"/>
          <p:nvPr/>
        </p:nvSpPr>
        <p:spPr>
          <a:xfrm>
            <a:off x="1186899" y="5779499"/>
            <a:ext cx="981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Affordable neighborhoods are mostly in the outer boroughs; Queens, Staten Island, and the Bronx.</a:t>
            </a:r>
          </a:p>
        </p:txBody>
      </p:sp>
    </p:spTree>
    <p:extLst>
      <p:ext uri="{BB962C8B-B14F-4D97-AF65-F5344CB8AC3E}">
        <p14:creationId xmlns:p14="http://schemas.microsoft.com/office/powerpoint/2010/main" val="3412889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826C5-687C-E0BB-9BA8-7DF49C149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700" dirty="0"/>
              <a:t>Where can I afford to live on a </a:t>
            </a:r>
            <a:r>
              <a:rPr lang="en-US" sz="3700" b="1" dirty="0"/>
              <a:t>$1.5K </a:t>
            </a:r>
            <a:r>
              <a:rPr lang="en-US" sz="3700" dirty="0"/>
              <a:t>budget in Boston?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CFA1C1-5212-5282-4F77-929267193D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954" y="1690688"/>
            <a:ext cx="4576092" cy="401358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E9AFA4-5EAE-7F50-0C7C-96908F27EB13}"/>
              </a:ext>
            </a:extLst>
          </p:cNvPr>
          <p:cNvSpPr txBox="1"/>
          <p:nvPr/>
        </p:nvSpPr>
        <p:spPr>
          <a:xfrm>
            <a:off x="1511155" y="5704271"/>
            <a:ext cx="9169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Affordable neighborhoods are in Dorchester, Mattapan, Roxbury, Roslindale, and Hyde Park.</a:t>
            </a:r>
          </a:p>
        </p:txBody>
      </p:sp>
    </p:spTree>
    <p:extLst>
      <p:ext uri="{BB962C8B-B14F-4D97-AF65-F5344CB8AC3E}">
        <p14:creationId xmlns:p14="http://schemas.microsoft.com/office/powerpoint/2010/main" val="2027842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6E8F-DBD6-ABFD-D720-D06C45DD7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700" dirty="0"/>
              <a:t>Listings stay active </a:t>
            </a:r>
            <a:r>
              <a:rPr lang="en-US" sz="3700" b="1" dirty="0"/>
              <a:t>35 days</a:t>
            </a:r>
            <a:r>
              <a:rPr lang="en-US" sz="3700" dirty="0"/>
              <a:t> longer in NYC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625939C-1BDC-6679-9751-3F4FBED3D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81" y="1690688"/>
            <a:ext cx="10052033" cy="2998661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D66103-2046-766E-6DEB-B7CFB7E56A0B}"/>
              </a:ext>
            </a:extLst>
          </p:cNvPr>
          <p:cNvSpPr txBox="1"/>
          <p:nvPr/>
        </p:nvSpPr>
        <p:spPr>
          <a:xfrm>
            <a:off x="2886073" y="4689349"/>
            <a:ext cx="641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Faster turnover speed may suggest more demand in Boston.</a:t>
            </a:r>
          </a:p>
        </p:txBody>
      </p:sp>
    </p:spTree>
    <p:extLst>
      <p:ext uri="{BB962C8B-B14F-4D97-AF65-F5344CB8AC3E}">
        <p14:creationId xmlns:p14="http://schemas.microsoft.com/office/powerpoint/2010/main" val="3346693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A667E-2C03-722A-B30B-525B69D60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00" dirty="0"/>
              <a:t>Pet-friendly rentals in NYC have a </a:t>
            </a:r>
            <a:r>
              <a:rPr lang="en-US" sz="3700" b="1" dirty="0"/>
              <a:t>60%</a:t>
            </a:r>
            <a:r>
              <a:rPr lang="en-US" sz="3700" dirty="0"/>
              <a:t> higher premium per square foot than Boston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338325-6A97-2E9B-7FDF-12EB94CD7A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278" y="1690688"/>
            <a:ext cx="2943443" cy="390365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36DF47-E9EF-BFF1-6D2E-4D8E97D1F0E6}"/>
              </a:ext>
            </a:extLst>
          </p:cNvPr>
          <p:cNvSpPr txBox="1"/>
          <p:nvPr/>
        </p:nvSpPr>
        <p:spPr>
          <a:xfrm>
            <a:off x="1876991" y="5594339"/>
            <a:ext cx="846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For an average 700 sq ft 1BR apartment, that’s roughly $290 vs $460 extra per month.</a:t>
            </a:r>
          </a:p>
        </p:txBody>
      </p:sp>
    </p:spTree>
    <p:extLst>
      <p:ext uri="{BB962C8B-B14F-4D97-AF65-F5344CB8AC3E}">
        <p14:creationId xmlns:p14="http://schemas.microsoft.com/office/powerpoint/2010/main" val="449697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3016</TotalTime>
  <Words>445</Words>
  <Application>Microsoft Office PowerPoint</Application>
  <PresentationFormat>Widescreen</PresentationFormat>
  <Paragraphs>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Boston vs NYC Rental Markets</vt:lpstr>
      <vt:lpstr>How do NYC and Boston compare for renters?</vt:lpstr>
      <vt:lpstr>NYC median rent is 34% higher than Boston</vt:lpstr>
      <vt:lpstr>NYC is 40-60% more expensive at every bedroom size</vt:lpstr>
      <vt:lpstr>60-75% of listings are 1-2 bedrooms in both cities</vt:lpstr>
      <vt:lpstr>85% of NYC listings are in Manhattan and Brooklyn</vt:lpstr>
      <vt:lpstr>Over 1/3 of Boston listings are in Allston and Brighton; 60% sit in five neighborhoods</vt:lpstr>
      <vt:lpstr>Boston is 3x more affordable on a $1.5K budget</vt:lpstr>
      <vt:lpstr>Where can I afford to live on a $1.5K budget in NYC?</vt:lpstr>
      <vt:lpstr>Where can I afford to live on a $1.5K budget in Boston?</vt:lpstr>
      <vt:lpstr>Listings stay active 35 days longer in NYC</vt:lpstr>
      <vt:lpstr>Pet-friendly rentals in NYC have a 60% higher premium per square foot than Boston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 Veludandi</dc:creator>
  <cp:lastModifiedBy>Venkat Veludandi</cp:lastModifiedBy>
  <cp:revision>5</cp:revision>
  <dcterms:created xsi:type="dcterms:W3CDTF">2025-12-09T03:47:39Z</dcterms:created>
  <dcterms:modified xsi:type="dcterms:W3CDTF">2025-12-11T22:06:42Z</dcterms:modified>
</cp:coreProperties>
</file>